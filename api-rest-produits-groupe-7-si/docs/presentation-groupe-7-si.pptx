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EA5E9"/>
                </a:solidFill>
              </a:defRPr>
            </a:pPr>
            <a:r>
              <a:t>UE DÉVELOPPEMENT À BASE DE COMPOSANTS ET SERVICES WEB • 2026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API REST de Produits &amp;</a:t>
            </a:r>
          </a:p>
          <a:p>
            <a:pPr>
              <a:spcAft>
                <a:spcPts val="1400"/>
              </a:spcAft>
              <a:defRPr sz="3200" b="1">
                <a:solidFill>
                  <a:srgbClr val="0EA5E9"/>
                </a:solidFill>
              </a:defRPr>
            </a:pPr>
            <a:r>
              <a:t>Orchestration WSO2 MI</a:t>
            </a:r>
          </a:p>
          <a:p>
            <a:pPr>
              <a:spcAft>
                <a:spcPts val="3200"/>
              </a:spcAft>
              <a:defRPr sz="1300">
                <a:solidFill>
                  <a:srgbClr val="CBD5E1"/>
                </a:solidFill>
              </a:defRPr>
            </a:pPr>
            <a:r>
              <a:t>Intégration d'entreprise et chaîne continue de données : médiation déclarative WSO2 Micro Integrator, persistance relationnelle PostgreSQL et exposition REST haute performance FastAPI.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ENSEIGNANT / ÉVALUATEUR :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M. Oumar Kyfadel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005840"/>
            <a:ext cx="39319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1887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EA5E9"/>
                </a:solidFill>
              </a:defRPr>
            </a:pPr>
            <a:r>
              <a:t>GROUPE 7 — 5 MEMBRES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NIKIEMA Paligwende Aude Stanislas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Filière SI • Architecte Intégration &amp; Médiation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KABORE Julius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Filière SI • Développeur Backend FastAPI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SAWADOGO Ephraim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Filière SI • Ingénieur Données &amp; PostgreSQL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GOROU Hosnie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Filière SI • Spécialiste DevOps &amp; Reproductibilité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ILBOUDO Christian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Filière SI • Développeur Frontend &amp; Tests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PROJET COMPOSANTS &amp; SERVICES WEB — THÈME 10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Problématique Métier : Découplage &amp; Intégrité du Catalogue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Master 2026 • Groupe 7 SI (Sécurité Informatique) • API REST &amp; WSO2 Micro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</a:defRPr>
            </a:pPr>
            <a:r>
              <a:t>02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12064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44752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Le Constat en Entreprise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[Défis Techniques]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Cloisonnement fréquent entre les bases transactionnelles (ERP) et les applications clientes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Interdiction formelle d'exposer directement le schéma de production source à l'extérieur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Risque majeur de saturation des verrous de base de données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Exposition inutile de données sensibles ou non normalisées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Divergence de structures, contraintes de validation hétérogènes et gestion des doublons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Nécessité d'assurer une installation reproductible sur toute machine neuve (Docker Compose)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120640" cy="5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44752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La Réponse du Groupe 7 SI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[Stratégie Adoptée]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Isolation physique &amp; logique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Séparation stricte en base PostgreSQL : schémas 'source' et 'cible'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Orchestration sans code dispersé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Médiateur WSO2 Micro Integrator dédié à l'extraction et la transformation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Exposition REST découplée et standardisée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API Python (FastAPI) assurant le CRUD complet avec contrat OpenAPI formel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Garantie de qualité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Scénario de bout en bout validé par suite de tests Insomnia et monitoring de santé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PROJET COMPOSANTS &amp; SERVICES WEB — THÈME 10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WSO2 orchestre le transfert, FastAPI expose les données intégrées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Master 2026 • Groupe 7 SI (Sécurité Informatique) • API REST &amp; WSO2 Micro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</a:defRPr>
            </a:pPr>
            <a:r>
              <a:t>03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338328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44752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Stockage PostgreSQL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[SGBD Relationnel]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Instance PostgreSQL 16 Alpine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Schéma source.products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Données d'origine des articles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Schéma cible.products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Données transformées avec horodatage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Séparation logique assurant l'indépendance des charges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3383280" cy="5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444752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Bus WSO2 MI 4.6.0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[Middleware ESB]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Médiation déclarative sécurisée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Endpoint POST /products/transfer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Extraction source -&gt; Contrôle intégrité -&gt; Injection cible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Gestion native des erreurs et idempotence du transfert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Port dédié d'écoute : 8291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80160"/>
            <a:ext cx="338328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444752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API Python &amp; Client Web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[Consommateurs REST]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Backend FastAPI asynchrone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Routes CRUD REST standardisées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Contrat OpenAPI v3 généré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IHM de supervision Web (Port 3001)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Administration visuelle via pgAdmin (5050)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PROJET COMPOSANTS &amp; SERVICES WEB — THÈME 10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Cartographie Technologique &amp; Responsabilités des Composants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Master 2026 • Groupe 7 SI (Sécurité Informatique) • API REST &amp; WSO2 Micro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</a:defRPr>
            </a:pPr>
            <a:r>
              <a:t>04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12064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44752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WSO2 Micro Integrator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[Couche Intégration]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Version : 4.6.0 (Médiateur d'intégration d'entreprise)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Rôle : Orchestration déclarative du pipeline de données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Livrable : Artéfact Maven Synapse (ProductTransferAPI)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Déclenchement : Requête HTTP POST unifiée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120640" cy="5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44752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Python 3.13 &amp; FastAPI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[Couche Exposition]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Framework : FastAPI (Starlette + Pydantic v2)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Rôle : Passerelle REST et consultation du catalogue cible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Architecture : Modulaire 3 couches (Router / Service / Repository)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Accès base : Pilote psycopg avec pool de connexions optimisé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5120640" cy="5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05072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PostgreSQL 16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[Couche Données]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Modèle : Base unique 'products_db' avec 2 schémas étanches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Rôle : Persistance transactionnelle ACID et contraintes d'intégrité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Garantie : SKU unique, prix &gt;= 0, stock &gt;=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512064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005072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Docker &amp; Frontend Nginx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[Couche Infrastructure]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Conteneurisation : Réseau bridge dédié reliant les 5 services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Frontend SPA : Interface JavaScript / HTML5 sans dépendance lourde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Déploiement : Démarrage unifié 'docker compose up -d'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PROJET COMPOSANTS &amp; SERVICES WEB — THÈME 10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Modélisation Relationnelle : Règles de Correspondance et Intégrité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Master 2026 • Groupe 7 SI (Sécurité Informatique) • API REST &amp; WSO2 Micro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</a:defRPr>
            </a:pPr>
            <a:r>
              <a:t>05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12064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44752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Structure des Tables (schema.sql)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[Schémas SQL]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Table source.products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id (BIGSERIAL PRIMARY KEY)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sku (VARCHAR 100 UNIQUE NOT NULL)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name (VARCHAR 255 NOT NULL)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description (TEXT NULL)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price (NUMERIC 12,2 CHECK &gt;= 0)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stock (INTEGER CHECK &gt;= 0)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created_at (TIMESTAMPTZ DEFAULT NOW)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Table cible.products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Structure répliquée et alignée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+ updated_at (TIMESTAMPTZ) traçant chaque modification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120640" cy="5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44752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Règles de Correspondance &amp; Traitement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[Règles Métier]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1. Contrôle d'Obligation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Le SKU, le Nom, le Prix et le Stock ne peuvent être nuls.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2. Normalisation et Formatage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Suppression des espaces superflus et standardisation syntaxique.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3. Gestion de l'Idempotence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Si un SKU existe déjà dans la cible, WSO2 met à jour les stocks et prix sans créer de collision.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4. Intégrité Temporelle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Conservation stricte du created_at d'origine et rafraîchissement automatique de updated_at.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PROJET COMPOSANTS &amp; SERVICES WEB — THÈME 10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Orchestration WSO2 MI : Du Déclenchement au Chargement Cible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Master 2026 • Groupe 7 SI (Sécurité Informatique) • API REST &amp; WSO2 Micro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</a:defRPr>
            </a:pPr>
            <a:r>
              <a:t>06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3931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188720"/>
            <a:ext cx="393192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353312"/>
            <a:ext cx="3474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Preuve du Flux de Médiation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[Médiation Réussie]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1. Appel de déclenchement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Requête POST vers http://localhost:8291/products/transfer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2. Exécution dans WSO2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Lecture dans source.products via connecteur JDBC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3. Réponse formelle WSO2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Statut 'transferred' retourné avec confirmation du SKU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4. Vérification SQL directe (psql)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La capture supérieure montre les 3 lignes sources et le décompte cible immédiat.</a:t>
            </a:r>
          </a:p>
        </p:txBody>
      </p:sp>
      <p:pic>
        <p:nvPicPr>
          <p:cNvPr id="12" name="Picture 11" descr="02_psql_source_vs_c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6583680" cy="4121229"/>
          </a:xfrm>
          <a:prstGeom prst="rect">
            <a:avLst/>
          </a:prstGeom>
        </p:spPr>
      </p:pic>
      <p:pic>
        <p:nvPicPr>
          <p:cNvPr id="13" name="Picture 12" descr="05_curl_wso2_transfer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023360"/>
            <a:ext cx="6583680" cy="19288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PROJET COMPOSANTS &amp; SERVICES WEB — THÈME 10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L'API REST FastAPI Expose et Modifie le Catalogue Cible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Master 2026 • Groupe 7 SI (Sécurité Informatique) • API REST &amp; WSO2 Micro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</a:defRPr>
            </a:pPr>
            <a:r>
              <a:t>07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3931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188720"/>
            <a:ext cx="3931920" cy="5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353312"/>
            <a:ext cx="3474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Validation du Contrat REST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[Cycle de Vie CRUD]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Opération POST /api/v1/products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Ajout du produit 'EC-003' (Ecran 27 pouces)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Réponse HTTP 201 Created avec ID 23 généré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Opération PUT /api/v1/products/18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Mise à jour du Clavier (ID 18)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Actualisation du stock (15) et prix (29.99)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Contrôle d'Erreur (404)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Requête sur ID inexistant renvoie 'Product not found'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Documentation interactive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Swagger UI accessible sur /docs et contrat statique openapi.json</a:t>
            </a:r>
          </a:p>
        </p:txBody>
      </p:sp>
      <p:pic>
        <p:nvPicPr>
          <p:cNvPr id="12" name="Picture 11" descr="07_curl_post_product_cre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6583680" cy="1935242"/>
          </a:xfrm>
          <a:prstGeom prst="rect">
            <a:avLst/>
          </a:prstGeom>
        </p:spPr>
      </p:pic>
      <p:pic>
        <p:nvPicPr>
          <p:cNvPr id="13" name="Picture 12" descr="11_curl_put_product_upd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840480"/>
            <a:ext cx="6583680" cy="13051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PROJET COMPOSANTS &amp; SERVICES WEB — THÈME 10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L'Interface UI Reflète les Actions en Temps Réel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Master 2026 • Groupe 7 SI (Sécurité Informatique) • API REST &amp; WSO2 Micro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</a:defRPr>
            </a:pPr>
            <a:r>
              <a:t>08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3931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188720"/>
            <a:ext cx="393192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353312"/>
            <a:ext cx="3474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Preuve d'Intégration Frontend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[Démonstration IHM]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Catalogue enrichi en direct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Suite au POST, l'article 'EC-003' s'ajoute dynamiquement (4 produits visibles)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Preuve de suppression (DELETE)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Commande curl : DELETE /api/v1/products/23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Statut 204 No Content validé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Le tableau UI retire immédiatement la ligne (retour à 3 produits)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Console de test interactive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Les requêtes live (GET /health) affichent un statut vert 200 OK</a:t>
            </a:r>
          </a:p>
        </p:txBody>
      </p:sp>
      <p:pic>
        <p:nvPicPr>
          <p:cNvPr id="12" name="Picture 11" descr="12_ui_catalogue_with_4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6583680" cy="3465433"/>
          </a:xfrm>
          <a:prstGeom prst="rect">
            <a:avLst/>
          </a:prstGeom>
        </p:spPr>
      </p:pic>
      <p:pic>
        <p:nvPicPr>
          <p:cNvPr id="13" name="Picture 12" descr="14_ui_catalogue_after_de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840480"/>
            <a:ext cx="6583680" cy="34075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PROJET COMPOSANTS &amp; SERVICES WEB — THÈME 10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Déploiement Reproductible : Zéro Configuration Manuelle Hôte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Master 2026 • Groupe 7 SI (Sécurité Informatique) • API REST &amp; WSO2 Micro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</a:defRPr>
            </a:pPr>
            <a:r>
              <a:t>09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3931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188720"/>
            <a:ext cx="3931920" cy="5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353312"/>
            <a:ext cx="3474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Validation Docker Compose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[DevOps &amp; ISO]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Procédure d'installation sur machine neuve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- 1. Cloner le dépôt Git public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- 2. Copier .env.example vers .env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- 3. Exécuter 'start.ps1' ou 'docker compose up -d'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Preuve des sondes de santé (Healthcheck)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Les conteneurs 'db' et 'api' sont confirmés 'healthy' dès l'initialisation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Ports standardisés mappés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PostgreSQL: 5434 | FastAPI: 8001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WSO2 MI: 8291 | UI: 3001 | pgAdmin: 5050</a:t>
            </a:r>
          </a:p>
        </p:txBody>
      </p:sp>
      <p:pic>
        <p:nvPicPr>
          <p:cNvPr id="12" name="Picture 11" descr="01_docker_compose_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6583680" cy="3921919"/>
          </a:xfrm>
          <a:prstGeom prst="rect">
            <a:avLst/>
          </a:prstGeom>
        </p:spPr>
      </p:pic>
      <p:pic>
        <p:nvPicPr>
          <p:cNvPr id="13" name="Picture 12" descr="04_docker_build_heal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931920"/>
            <a:ext cx="6583680" cy="41983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PROJET COMPOSANTS &amp; SERVICES WEB — THÈME 10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Les Tests Valident le Transfert et les Opérations CRUD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Master 2026 • Groupe 7 SI (Sécurité Informatique) • API REST &amp; WSO2 Micro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</a:defRPr>
            </a:pPr>
            <a:r>
              <a:t>10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6304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SYNTHÈSE DES VALIDATIONS DE BOUT EN BOUT (SUITE INSOMNIA &amp; SCRIPTS CLI)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[Base de Données]  SQL / psql  -&gt;  Initialisation des 3 produits de test  :  Succès (3 lignes insérées)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[WSO2 Micro Integrator]  POST /transfer  -&gt;  Transfert &amp; normalisation vers cible  :  Succès (200 OK + XML/JSON)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[FastAPI Health]  GET /health  -&gt;  Vérification disponibilité du backend  :  Succès ({"status":"ok"})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[FastAPI Catalogue]  GET /api/v1/products  -&gt;  Consultation de la liste synchronisée  :  Succès (Liste JSON retournée)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[FastAPI Création]  POST /api/v1/products  -&gt;  Ajout du produit EC-003  :  Succès (201 Created + ID)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[FastAPI Modification]  PUT /api/v1/products/18  -&gt;  Mise à jour stock/prix  :  Succès (200 OK + updated_at)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[FastAPI Suppression]  DELETE /api/v1/products/23  -&gt;  Retrait propre de l'article  :  Succès (204 No Content)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PROJET COMPOSANTS &amp; SERVICES WEB — THÈME 10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Répartition des Contributions : Un Travail d'Équipe Concerté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Master 2026 • Groupe 7 SI (Sécurité Informatique) • API REST &amp; WSO2 Micro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</a:defRPr>
            </a:pPr>
            <a:r>
              <a:t>11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3832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338328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44752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NIKIEMA Paligwende Aude Stanislas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[Architecte Intégration]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Conception du flux WSO2 MI (ProductTransferAPI)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Définition des règles de médiation et mappings JDBC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Preuve : Artefacts Maven et XML Synapse sous wso2/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3832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3383280" cy="5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444752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KABORE Julius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[Développeur Backend]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Implémentation des endpoints CRUD FastAPI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Mise en place de la validation Pydantic et gestion CORS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Preuve : Code source backend/app/ et openapi.json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80160"/>
            <a:ext cx="33832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80160"/>
            <a:ext cx="338328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444752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SAWADOGO Ephraim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[Ingénieur Données]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Modélisation SQL des schémas source et cible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Mise en place des contraintes d'intégrité et triggers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Preuve : Scripts sql/schema.sql et sql/seed.sql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3840480"/>
            <a:ext cx="33832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3840480"/>
            <a:ext cx="3383280" cy="5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4005072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GOROU Hosnie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[Spécialiste DevOps]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Orchestration Docker Compose multi-conteneurs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Scripts de déploiement automatique (start.ps1, up.bat)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Preuve : docker-compose.yml et sondes healthcheck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40480"/>
            <a:ext cx="33832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840480"/>
            <a:ext cx="338328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005072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ILBOUDO Christian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[Frontend &amp; Assurance Qualité]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Conception de l'IHM web et console de test live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Élaboration de la collection Insomnia et fiches de tests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Preuve : Code frontend/ et tests/insomnia/products.json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PROJET COMPOSANTS &amp; SERVICES WEB — THÈME 10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Retour d'Expérience : Difficultés Rencontrées et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Master 2026 • Groupe 7 SI (Sécurité Informatique) • API REST &amp; WSO2 Micro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</a:defRPr>
            </a:pPr>
            <a:r>
              <a:t>12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3383280" cy="5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44752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Connectivité &amp; Ports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[Réseau Docker]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Obstacle rencontré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Conflits entre ports PostgreSQL internes (5432) et hôte (5434), ainsi que WSO2 (8291).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Résolution apportée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Normalisation stricte dans le fichier .env et utilisation du DNS interne Docker Compose (db:5432).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Enseignement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Isolation rigoureuse des réseaux de conteneurs.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338328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444752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Médiation WSO2 Synapse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[Middleware WSO2]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Obstacle rencontré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Configuration fine des connecteurs JDBC PostgreSQL dans WSO2 sans interface graphique lourde.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Résolution apportée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Automatisation via projet Maven avec injection des bibliothèques dans deployment.toml.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Enseignement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Rigueur déclarative de l'ESB d'entreprise.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80160"/>
            <a:ext cx="3383280" cy="5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444752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Synchronisation Frontend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[Interface Utilisateur]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Obstacle rencontré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Refléter instantanément les ajouts/suppressions REST sans rechargement brutal de l'UI.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Résolution apportée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Implémentation d'un bus d'événements JavaScript léger et actualisation ciblée du DOM.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Enseignement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Fluidité et réactivité de l'expérience utilisateur.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PROJET COMPOSANTS &amp; SERVICES WEB — THÈME 10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Bilan des Livrables, Limites Identifiées et Perspectives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73952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Master 2026 • Groupe 7 SI (Sécurité Informatique) • API REST &amp; WSO2 Micro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</a:defRPr>
            </a:pPr>
            <a:r>
              <a:t>13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12064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44752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Bilan &amp; Respect des Exigences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[Validation du Cahier des Charges]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100% des exigences du Thème 10 satisfaites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Modélisation relationnelle validée (PostgreSQL source/cible)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Orchestration WSO2 MI opérationnelle et testée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API REST Python (FastAPI) complète et typée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Spécification OpenAPI et suite de tests Insomnia fournies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- Déploiement reproductible vérifié en une seule commande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Code source entièrement propre, sans traces d'artefacts inutiles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120640" cy="5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44752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Limites &amp; Perspectives d'Évolution</a:t>
            </a:r>
          </a:p>
          <a:p>
            <a:pPr>
              <a:spcAft>
                <a:spcPts val="600"/>
              </a:spcAft>
              <a:defRPr sz="900" b="1">
                <a:solidFill>
                  <a:srgbClr val="0369A1"/>
                </a:solidFill>
              </a:defRPr>
            </a:pPr>
            <a:r>
              <a:t>[Perspectives d'Ingénierie]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1. Automatisation de l'intégration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Ajout d'une tâche planifiée (WSO2 Scheduled Task) ou d'un flux Change Data Capture (CDC / Debezium).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2. Sécurisation avancée (Filière SI)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Mise en place d'une passerelle d'API Gateway (Kong) avec jetons OAuth2 / JWT et gestion de quotas.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• 3. Observabilité d'entreprise :</a:t>
            </a:r>
          </a:p>
          <a:p>
            <a:pPr>
              <a:spcAft>
                <a:spcPts val="350"/>
              </a:spcAft>
              <a:defRPr sz="1000">
                <a:solidFill>
                  <a:srgbClr val="0F172A"/>
                </a:solidFill>
              </a:defRPr>
            </a:pPr>
            <a:r>
              <a:t>    - Collecte des métriques d'exécution avec Prometheus et Grafana.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1200" b="1">
                <a:solidFill>
                  <a:srgbClr val="0EA5E9"/>
                </a:solidFill>
              </a:defRPr>
            </a:pPr>
            <a:r>
              <a:t>PROJET COMPOSANTS ET SERVICES WEB • THÈME 10</a:t>
            </a:r>
          </a:p>
          <a:p>
            <a:pPr algn="ctr">
              <a:spcAft>
                <a:spcPts val="2000"/>
              </a:spcAft>
              <a:defRPr sz="3800" b="1">
                <a:solidFill>
                  <a:srgbClr val="FFFFFF"/>
                </a:solidFill>
              </a:defRPr>
            </a:pPr>
            <a:r>
              <a:t>Merci pour votre attention</a:t>
            </a:r>
          </a:p>
          <a:p>
            <a:pPr algn="ctr">
              <a:spcAft>
                <a:spcPts val="3600"/>
              </a:spcAft>
              <a:defRPr sz="1500">
                <a:solidFill>
                  <a:srgbClr val="CBD5E1"/>
                </a:solidFill>
              </a:defRPr>
            </a:pPr>
            <a:r>
              <a:t>Le Groupe 7 SI est à votre entière disposition pour vos questions et la démonstration en direct.</a:t>
            </a:r>
          </a:p>
          <a:p>
            <a:pPr algn="ctr">
              <a:spcAft>
                <a:spcPts val="800"/>
              </a:spcAft>
              <a:defRPr sz="1150" b="1">
                <a:solidFill>
                  <a:srgbClr val="FFFFFF"/>
                </a:solidFill>
              </a:defRPr>
            </a:pPr>
            <a:r>
              <a:t>NIKIEMA P. A. Stanislas • KABORE Julius • SAWADOGO Ephraim • GOROU Hosnie • ILBOUDO Christian</a:t>
            </a:r>
          </a:p>
          <a:p>
            <a:pPr algn="ctr">
              <a:defRPr sz="1100">
                <a:solidFill>
                  <a:srgbClr val="0EA5E9"/>
                </a:solidFill>
              </a:defRPr>
            </a:pPr>
            <a:r>
              <a:t>Enseignant / Évaluateur : M. Oumar Kyfadel • Année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